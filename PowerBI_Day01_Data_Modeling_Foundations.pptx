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Data Modeling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Building the Backbone of Power BI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Day 1 of 12 | Module 3 - Data Modeling (Part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274320"/>
            <a:ext cx="1371600" cy="822960"/>
          </a:xfrm>
          <a:prstGeom prst="roundRect">
            <a:avLst/>
          </a:prstGeom>
          <a:solidFill>
            <a:srgbClr val="F1C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We'll Cover</a:t>
            </a:r>
          </a:p>
          <a:p>
            <a:pPr>
              <a:defRPr sz="2000"/>
            </a:pPr>
            <a:r>
              <a:t>Data Models</a:t>
            </a:r>
          </a:p>
          <a:p>
            <a:pPr>
              <a:defRPr sz="2000"/>
            </a:pPr>
            <a:r>
              <a:t>Fact vs Dimension</a:t>
            </a:r>
          </a:p>
          <a:p>
            <a:pPr>
              <a:defRPr sz="2000"/>
            </a:pPr>
            <a:r>
              <a:t>Star Schema</a:t>
            </a:r>
          </a:p>
          <a:p>
            <a:pPr>
              <a:defRPr sz="2000"/>
            </a:pPr>
            <a:r>
              <a:t>Relationships</a:t>
            </a:r>
          </a:p>
          <a:p>
            <a:pPr>
              <a:defRPr sz="2000"/>
            </a:pPr>
            <a:r>
              <a:t>Common Mistakes</a:t>
            </a:r>
          </a:p>
          <a:p>
            <a:pPr>
              <a:defRPr sz="2000"/>
            </a:pPr>
            <a:r>
              <a:t>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Why Data Modeling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Your data model is 70% of success</a:t>
            </a:r>
          </a:p>
          <a:p>
            <a:pPr>
              <a:spcBef>
                <a:spcPts val="600"/>
              </a:spcBef>
              <a:defRPr sz="1800"/>
            </a:pPr>
          </a:p>
          <a:p>
            <a:pPr lvl="1">
              <a:spcBef>
                <a:spcPts val="600"/>
              </a:spcBef>
              <a:defRPr sz="1800"/>
            </a:pPr>
            <a:r>
              <a:t>Poor modeling = Incorrect calculations</a:t>
            </a:r>
          </a:p>
          <a:p>
            <a:pPr lvl="1">
              <a:spcBef>
                <a:spcPts val="600"/>
              </a:spcBef>
              <a:defRPr sz="1800"/>
            </a:pPr>
            <a:r>
              <a:t>Poor modeling = Performance issues</a:t>
            </a:r>
          </a:p>
          <a:p>
            <a:pPr lvl="1">
              <a:spcBef>
                <a:spcPts val="600"/>
              </a:spcBef>
              <a:defRPr sz="1800"/>
            </a:pPr>
            <a:r>
              <a:t>Poor modeling = Maintenance nightmares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1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Fact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Contains measurable numbers</a:t>
            </a:r>
          </a:p>
          <a:p>
            <a:pPr lvl="1">
              <a:spcBef>
                <a:spcPts val="600"/>
              </a:spcBef>
              <a:defRPr sz="1800"/>
            </a:pPr>
            <a:r>
              <a:t>Revenue, Quantity, Cost</a:t>
            </a:r>
          </a:p>
          <a:p>
            <a:pPr lvl="1">
              <a:spcBef>
                <a:spcPts val="600"/>
              </a:spcBef>
              <a:defRPr sz="1800"/>
            </a:pPr>
            <a:r>
              <a:t>Large and grows over time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If you COUNT or SUM it → Fact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1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Contains descriptive attributes</a:t>
            </a:r>
          </a:p>
          <a:p>
            <a:pPr lvl="1">
              <a:spcBef>
                <a:spcPts val="600"/>
              </a:spcBef>
              <a:defRPr sz="1800"/>
            </a:pPr>
            <a:r>
              <a:t>Names, Categories, Dates</a:t>
            </a:r>
          </a:p>
          <a:p>
            <a:pPr lvl="1">
              <a:spcBef>
                <a:spcPts val="600"/>
              </a:spcBef>
              <a:defRPr sz="1800"/>
            </a:pPr>
            <a:r>
              <a:t>Smaller and stable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If you DESCRIBE or FILTER →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1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Star Schema - The Industry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743200"/>
            <a:ext cx="146304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SALES</a:t>
            </a:r>
          </a:p>
          <a:p>
            <a:r>
              <a:t>(Fact)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71600"/>
            <a:ext cx="1188720" cy="64008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2011680"/>
            <a:ext cx="1691640" cy="11887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0" y="1371600"/>
            <a:ext cx="1188720" cy="64008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572000" y="2011680"/>
            <a:ext cx="1417320" cy="11887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40480" y="4297680"/>
            <a:ext cx="1188720" cy="64008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CALENDAR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434840" y="3200400"/>
            <a:ext cx="137160" cy="17373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Central fact table</a:t>
            </a:r>
          </a:p>
          <a:p>
            <a:pPr>
              <a:defRPr sz="1600"/>
            </a:pPr>
            <a:r>
              <a:t>Surrounded by dimensions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90% of enterprise</a:t>
            </a:r>
          </a:p>
          <a:p>
            <a:pPr>
              <a:defRPr sz="1600"/>
            </a:pPr>
            <a:r>
              <a:t>implementations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Practice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109728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SALES (Fact)</a:t>
            </a:r>
          </a:p>
          <a:p>
            <a:r>
              <a:t>OrderID, OrderDate, CustomerID, ProductID</a:t>
            </a:r>
          </a:p>
          <a:p>
            <a:r>
              <a:t>Quantity, Revenue,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931920" cy="109728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CUSTOMERS</a:t>
            </a:r>
          </a:p>
          <a:p>
            <a:r>
              <a:t>CustomerID, Name, City,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743200"/>
            <a:ext cx="3931920" cy="109728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PRODUCTS</a:t>
            </a:r>
          </a:p>
          <a:p>
            <a:r>
              <a:t>ProductID, Name, Category,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3931920" cy="109728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CALENDAR</a:t>
            </a:r>
          </a:p>
          <a:p>
            <a:r>
              <a:t>Date, Year, Quarter, Month, Week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How Filters Flow Through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1645920" cy="73152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486400" y="2286000"/>
            <a:ext cx="731520" cy="731520"/>
          </a:xfrm>
          <a:prstGeom prst="down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164592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The Gravity Rule:</a:t>
            </a:r>
          </a:p>
          <a:p/>
          <a:p>
            <a:r>
              <a:t>Filters flow from</a:t>
            </a:r>
          </a:p>
          <a:p>
            <a:r>
              <a:t>ONE → MANY</a:t>
            </a:r>
          </a:p>
          <a:p/>
          <a:p>
            <a:r>
              <a:t>Dimension → Fact</a:t>
            </a:r>
          </a:p>
          <a:p>
            <a:r>
              <a:t>(automatic)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With Good Model, DAX is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✓ Modeling = 70% of success</a:t>
            </a:r>
          </a:p>
          <a:p>
            <a:pPr>
              <a:spcAft>
                <a:spcPts val="1000"/>
              </a:spcAft>
              <a:defRPr sz="1800"/>
            </a:pPr>
            <a:r>
              <a:t>✓ Star schema = standard</a:t>
            </a:r>
          </a:p>
          <a:p>
            <a:pPr>
              <a:spcAft>
                <a:spcPts val="1000"/>
              </a:spcAft>
              <a:defRPr sz="1800"/>
            </a:pPr>
            <a:r>
              <a:t>✓ Filters flow dimension → fact</a:t>
            </a:r>
          </a:p>
          <a:p>
            <a:pPr>
              <a:spcAft>
                <a:spcPts val="1000"/>
              </a:spcAft>
              <a:defRPr sz="1800"/>
            </a:pPr>
            <a:r>
              <a:t>✓ One-to-many most common</a:t>
            </a:r>
          </a:p>
          <a:p>
            <a:pPr>
              <a:spcAft>
                <a:spcPts val="1000"/>
              </a:spcAft>
              <a:defRPr sz="1800"/>
            </a:pPr>
            <a:r>
              <a:t>✓ Mark Calendar as date table</a:t>
            </a:r>
          </a:p>
          <a:p>
            <a:pPr>
              <a:spcAft>
                <a:spcPts val="1000"/>
              </a:spcAft>
              <a:defRPr sz="1800"/>
            </a:pPr>
            <a:r>
              <a:t>✓ Proper model = simple DAX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DAX Examples: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3931920" cy="3474720"/>
          </a:xfrm>
          <a:prstGeom prst="roundRect">
            <a:avLst/>
          </a:prstGeom>
          <a:solidFill>
            <a:srgbClr val="2B2B2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00">
                <a:solidFill>
                  <a:srgbClr val="E6E6E6"/>
                </a:solidFill>
                <a:latin typeface="Consolas"/>
              </a:defRPr>
            </a:pPr>
            <a:r>
              <a:t>Total Revenue = </a:t>
            </a:r>
            <a:br/>
            <a:r>
              <a:t>SUM( Sales[Revenue] )</a:t>
            </a:r>
            <a:br/>
            <a:br/>
            <a:r>
              <a:t>Revenue YTD = </a:t>
            </a:r>
            <a:br/>
            <a:r>
              <a:t>TOTALYTD( </a:t>
            </a:r>
            <a:br/>
            <a:r>
              <a:t>    [Total Revenue], </a:t>
            </a:r>
            <a:br/>
            <a:r>
              <a:t>    Calendar[Date] </a:t>
            </a:r>
            <a:br/>
            <a:r>
              <a:t>)</a:t>
            </a:r>
            <a:br/>
            <a:br/>
            <a:r>
              <a:t>Last Year Sales = </a:t>
            </a:r>
            <a:br/>
            <a:r>
              <a:t>CALCULATE(</a:t>
            </a:r>
            <a:br/>
            <a:r>
              <a:t>    [Total Revenue],</a:t>
            </a:r>
            <a:br/>
            <a:r>
              <a:t>    SAMEPERIODLASTYEAR(</a:t>
            </a:r>
            <a:br/>
            <a:r>
              <a:t>        Calendar[Date]</a:t>
            </a:r>
            <a:br/>
            <a:r>
              <a:t>    )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3035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/>
            </a:pPr>
            <a:r>
              <a:t>Works automatically with proper relationships!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Day 1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Next: Complete exercises &amp; build practice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